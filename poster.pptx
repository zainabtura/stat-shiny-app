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2344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Universal Data Analyzer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Web Application for Statistical Data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  |  Supervisor Name  |  Department of Statistics  |  University Name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55648"/>
            <a:ext cx="731520" cy="2743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920240"/>
            <a:ext cx="347472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1168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analysis often requires switching between multiple software tools and writing complex code, creating barriers for non-technical users.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growing need for an integrated, user-friendly platform that guides users through the complete data analysis workflow — from data upload to model validation — without requiring programming knowledge.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Data Analyzer addresses this gap by providing a single, cohesive environment for exploratory, inferential, and regression-based analyses.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858768"/>
            <a:ext cx="731520" cy="274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" y="4023360"/>
            <a:ext cx="3474720" cy="1920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13308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96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Shiny Framework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app requiring no coding from the end user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" y="454456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5079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 → exploration → inference → modeling → validation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495604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9194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Support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CSV and Excel file uploads with automatic type detection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5367528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33095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UI</a:t>
            </a:r>
            <a:endParaRPr lang="en-US" sz="9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guided navigation with sidebar and home-first workflow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23360" y="14630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23360" y="1755648"/>
            <a:ext cx="731520" cy="27432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3360" y="1920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023360" y="1920240"/>
            <a:ext cx="54864" cy="960120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87952" y="2057400"/>
            <a:ext cx="320040" cy="32004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572000" y="2011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Upload &amp; Preview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0" y="2304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CSV/Excel files, review structure and quality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263640" y="1920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263640" y="1920240"/>
            <a:ext cx="54864" cy="9601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2057400"/>
            <a:ext cx="320040" cy="32004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6812280" y="2011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6812280" y="2304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two, and multi-variable exploration with plots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4023360" y="3063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4023360" y="3063240"/>
            <a:ext cx="54864" cy="960120"/>
          </a:xfrm>
          <a:prstGeom prst="rect">
            <a:avLst/>
          </a:prstGeom>
          <a:solidFill>
            <a:srgbClr val="EC4899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2" y="3200400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4572000" y="3154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Inferential Statistics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4572000" y="3447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Normality tests, t-tests, Wilcoxon, group comparisons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6263640" y="3063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6263640" y="3063240"/>
            <a:ext cx="54864" cy="960120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200400"/>
            <a:ext cx="320040" cy="32004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6812280" y="3154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Modeling</a:t>
            </a:r>
            <a:endParaRPr lang="en-US" sz="950" dirty="0"/>
          </a:p>
        </p:txBody>
      </p:sp>
      <p:sp>
        <p:nvSpPr>
          <p:cNvPr id="42" name="Text 36"/>
          <p:cNvSpPr/>
          <p:nvPr/>
        </p:nvSpPr>
        <p:spPr>
          <a:xfrm>
            <a:off x="6812280" y="3447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&amp; multiple linear regression with diagnostics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4023360" y="4206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4023360" y="420624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7952" y="4343400"/>
            <a:ext cx="320040" cy="320040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4572000" y="4297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Variables</a:t>
            </a:r>
            <a:endParaRPr lang="en-US" sz="950" dirty="0"/>
          </a:p>
        </p:txBody>
      </p:sp>
      <p:sp>
        <p:nvSpPr>
          <p:cNvPr id="47" name="Text 40"/>
          <p:cNvSpPr/>
          <p:nvPr/>
        </p:nvSpPr>
        <p:spPr>
          <a:xfrm>
            <a:off x="4572000" y="4590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predictors as dummy variables in models</a:t>
            </a:r>
            <a:endParaRPr lang="en-US" sz="800" dirty="0"/>
          </a:p>
        </p:txBody>
      </p:sp>
      <p:sp>
        <p:nvSpPr>
          <p:cNvPr id="48" name="Shape 41"/>
          <p:cNvSpPr/>
          <p:nvPr/>
        </p:nvSpPr>
        <p:spPr>
          <a:xfrm>
            <a:off x="6263640" y="4206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49" name="Shape 42"/>
          <p:cNvSpPr/>
          <p:nvPr/>
        </p:nvSpPr>
        <p:spPr>
          <a:xfrm>
            <a:off x="6263640" y="4206240"/>
            <a:ext cx="54864" cy="96012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343400"/>
            <a:ext cx="320040" cy="320040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6812280" y="4297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Adequacy</a:t>
            </a:r>
            <a:endParaRPr lang="en-US" sz="950" dirty="0"/>
          </a:p>
        </p:txBody>
      </p:sp>
      <p:sp>
        <p:nvSpPr>
          <p:cNvPr id="52" name="Text 44"/>
          <p:cNvSpPr/>
          <p:nvPr/>
        </p:nvSpPr>
        <p:spPr>
          <a:xfrm>
            <a:off x="6812280" y="4590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normality, homoscedasticity, independence</a:t>
            </a:r>
            <a:endParaRPr lang="en-US" sz="800" dirty="0"/>
          </a:p>
        </p:txBody>
      </p:sp>
      <p:sp>
        <p:nvSpPr>
          <p:cNvPr id="53" name="Shape 45"/>
          <p:cNvSpPr/>
          <p:nvPr/>
        </p:nvSpPr>
        <p:spPr>
          <a:xfrm>
            <a:off x="4023360" y="5349240"/>
            <a:ext cx="2057400" cy="9601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4023360" y="5349240"/>
            <a:ext cx="54864" cy="96012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87952" y="5486400"/>
            <a:ext cx="320040" cy="320040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4572000" y="5440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</a:t>
            </a:r>
            <a:endParaRPr lang="en-US" sz="950" dirty="0"/>
          </a:p>
        </p:txBody>
      </p:sp>
      <p:sp>
        <p:nvSpPr>
          <p:cNvPr id="57" name="Text 48"/>
          <p:cNvSpPr/>
          <p:nvPr/>
        </p:nvSpPr>
        <p:spPr>
          <a:xfrm>
            <a:off x="4572000" y="573328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Box-Cox, Box-Tidwell, Weighted Least Squares</a:t>
            </a:r>
            <a:endParaRPr lang="en-US" sz="800" dirty="0"/>
          </a:p>
        </p:txBody>
      </p:sp>
      <p:sp>
        <p:nvSpPr>
          <p:cNvPr id="58" name="Text 49"/>
          <p:cNvSpPr/>
          <p:nvPr/>
        </p:nvSpPr>
        <p:spPr>
          <a:xfrm>
            <a:off x="868680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200" dirty="0"/>
          </a:p>
        </p:txBody>
      </p:sp>
      <p:sp>
        <p:nvSpPr>
          <p:cNvPr id="59" name="Shape 50"/>
          <p:cNvSpPr/>
          <p:nvPr/>
        </p:nvSpPr>
        <p:spPr>
          <a:xfrm>
            <a:off x="8686800" y="1755648"/>
            <a:ext cx="731520" cy="2743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0" name="Shape 51"/>
          <p:cNvSpPr/>
          <p:nvPr/>
        </p:nvSpPr>
        <p:spPr>
          <a:xfrm>
            <a:off x="8796528" y="19202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1" name="Text 52"/>
          <p:cNvSpPr/>
          <p:nvPr/>
        </p:nvSpPr>
        <p:spPr>
          <a:xfrm>
            <a:off x="87965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2" name="Text 53"/>
          <p:cNvSpPr/>
          <p:nvPr/>
        </p:nvSpPr>
        <p:spPr>
          <a:xfrm>
            <a:off x="8686800" y="24231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850" dirty="0"/>
          </a:p>
        </p:txBody>
      </p:sp>
      <p:sp>
        <p:nvSpPr>
          <p:cNvPr id="63" name="Text 54"/>
          <p:cNvSpPr/>
          <p:nvPr/>
        </p:nvSpPr>
        <p:spPr>
          <a:xfrm>
            <a:off x="8686800" y="258775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datasets</a:t>
            </a:r>
            <a:endParaRPr lang="en-US" sz="700" dirty="0"/>
          </a:p>
        </p:txBody>
      </p:sp>
      <p:pic>
        <p:nvPicPr>
          <p:cNvPr id="6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5168" y="2029968"/>
            <a:ext cx="201168" cy="201168"/>
          </a:xfrm>
          <a:prstGeom prst="rect">
            <a:avLst/>
          </a:prstGeom>
        </p:spPr>
      </p:pic>
      <p:sp>
        <p:nvSpPr>
          <p:cNvPr id="65" name="Shape 55"/>
          <p:cNvSpPr/>
          <p:nvPr/>
        </p:nvSpPr>
        <p:spPr>
          <a:xfrm>
            <a:off x="9573768" y="19202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66" name="Text 56"/>
          <p:cNvSpPr/>
          <p:nvPr/>
        </p:nvSpPr>
        <p:spPr>
          <a:xfrm>
            <a:off x="957376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67" name="Text 57"/>
          <p:cNvSpPr/>
          <p:nvPr/>
        </p:nvSpPr>
        <p:spPr>
          <a:xfrm>
            <a:off x="9464040" y="24231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50" dirty="0"/>
          </a:p>
        </p:txBody>
      </p:sp>
      <p:sp>
        <p:nvSpPr>
          <p:cNvPr id="68" name="Text 58"/>
          <p:cNvSpPr/>
          <p:nvPr/>
        </p:nvSpPr>
        <p:spPr>
          <a:xfrm>
            <a:off x="9464040" y="258775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&amp; explore</a:t>
            </a:r>
            <a:endParaRPr lang="en-US" sz="700" dirty="0"/>
          </a:p>
        </p:txBody>
      </p:sp>
      <p:pic>
        <p:nvPicPr>
          <p:cNvPr id="6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22408" y="2029968"/>
            <a:ext cx="201168" cy="201168"/>
          </a:xfrm>
          <a:prstGeom prst="rect">
            <a:avLst/>
          </a:prstGeom>
        </p:spPr>
      </p:pic>
      <p:sp>
        <p:nvSpPr>
          <p:cNvPr id="70" name="Shape 59"/>
          <p:cNvSpPr/>
          <p:nvPr/>
        </p:nvSpPr>
        <p:spPr>
          <a:xfrm>
            <a:off x="10351008" y="1920240"/>
            <a:ext cx="457200" cy="45720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71" name="Text 60"/>
          <p:cNvSpPr/>
          <p:nvPr/>
        </p:nvSpPr>
        <p:spPr>
          <a:xfrm>
            <a:off x="1035100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72" name="Text 61"/>
          <p:cNvSpPr/>
          <p:nvPr/>
        </p:nvSpPr>
        <p:spPr>
          <a:xfrm>
            <a:off x="10241280" y="24231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850" dirty="0"/>
          </a:p>
        </p:txBody>
      </p:sp>
      <p:sp>
        <p:nvSpPr>
          <p:cNvPr id="73" name="Text 62"/>
          <p:cNvSpPr/>
          <p:nvPr/>
        </p:nvSpPr>
        <p:spPr>
          <a:xfrm>
            <a:off x="10241280" y="258775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data</a:t>
            </a:r>
            <a:endParaRPr lang="en-US" sz="700" dirty="0"/>
          </a:p>
        </p:txBody>
      </p:sp>
      <p:pic>
        <p:nvPicPr>
          <p:cNvPr id="7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99648" y="2029968"/>
            <a:ext cx="201168" cy="201168"/>
          </a:xfrm>
          <a:prstGeom prst="rect">
            <a:avLst/>
          </a:prstGeom>
        </p:spPr>
      </p:pic>
      <p:sp>
        <p:nvSpPr>
          <p:cNvPr id="75" name="Shape 63"/>
          <p:cNvSpPr/>
          <p:nvPr/>
        </p:nvSpPr>
        <p:spPr>
          <a:xfrm>
            <a:off x="11128248" y="1920240"/>
            <a:ext cx="457200" cy="45720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6" name="Text 64"/>
          <p:cNvSpPr/>
          <p:nvPr/>
        </p:nvSpPr>
        <p:spPr>
          <a:xfrm>
            <a:off x="1112824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77" name="Text 65"/>
          <p:cNvSpPr/>
          <p:nvPr/>
        </p:nvSpPr>
        <p:spPr>
          <a:xfrm>
            <a:off x="11018520" y="2423160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850" dirty="0"/>
          </a:p>
        </p:txBody>
      </p:sp>
      <p:sp>
        <p:nvSpPr>
          <p:cNvPr id="78" name="Text 66"/>
          <p:cNvSpPr/>
          <p:nvPr/>
        </p:nvSpPr>
        <p:spPr>
          <a:xfrm>
            <a:off x="11018520" y="2587752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model</a:t>
            </a:r>
            <a:endParaRPr lang="en-US" sz="700" dirty="0"/>
          </a:p>
        </p:txBody>
      </p:sp>
      <p:sp>
        <p:nvSpPr>
          <p:cNvPr id="79" name="Text 67"/>
          <p:cNvSpPr/>
          <p:nvPr/>
        </p:nvSpPr>
        <p:spPr>
          <a:xfrm>
            <a:off x="868680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</a:t>
            </a:r>
            <a:endParaRPr lang="en-US" sz="1200" dirty="0"/>
          </a:p>
        </p:txBody>
      </p:sp>
      <p:sp>
        <p:nvSpPr>
          <p:cNvPr id="80" name="Shape 68"/>
          <p:cNvSpPr/>
          <p:nvPr/>
        </p:nvSpPr>
        <p:spPr>
          <a:xfrm>
            <a:off x="8686800" y="3127248"/>
            <a:ext cx="731520" cy="2743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81" name="Shape 69"/>
          <p:cNvSpPr/>
          <p:nvPr/>
        </p:nvSpPr>
        <p:spPr>
          <a:xfrm>
            <a:off x="8686800" y="3291840"/>
            <a:ext cx="310896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82" name="Text 70"/>
          <p:cNvSpPr/>
          <p:nvPr/>
        </p:nvSpPr>
        <p:spPr>
          <a:xfrm>
            <a:off x="8869680" y="3383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Shiny, shinyjs</a:t>
            </a:r>
            <a:endParaRPr lang="en-US" sz="900" dirty="0"/>
          </a:p>
        </p:txBody>
      </p:sp>
      <p:sp>
        <p:nvSpPr>
          <p:cNvPr id="83" name="Text 71"/>
          <p:cNvSpPr/>
          <p:nvPr/>
        </p:nvSpPr>
        <p:spPr>
          <a:xfrm>
            <a:off x="8869680" y="3584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I/O: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readr, readxl, DT</a:t>
            </a:r>
            <a:endParaRPr lang="en-US" sz="900" dirty="0"/>
          </a:p>
        </p:txBody>
      </p:sp>
      <p:sp>
        <p:nvSpPr>
          <p:cNvPr id="84" name="Text 72"/>
          <p:cNvSpPr/>
          <p:nvPr/>
        </p:nvSpPr>
        <p:spPr>
          <a:xfrm>
            <a:off x="8869680" y="37856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moments, car, lmtest, MASS</a:t>
            </a:r>
            <a:endParaRPr lang="en-US" sz="900" dirty="0"/>
          </a:p>
        </p:txBody>
      </p:sp>
      <p:sp>
        <p:nvSpPr>
          <p:cNvPr id="85" name="Text 73"/>
          <p:cNvSpPr/>
          <p:nvPr/>
        </p:nvSpPr>
        <p:spPr>
          <a:xfrm>
            <a:off x="8869680" y="39867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nortest, randtests</a:t>
            </a:r>
            <a:endParaRPr lang="en-US" sz="900" dirty="0"/>
          </a:p>
        </p:txBody>
      </p:sp>
      <p:sp>
        <p:nvSpPr>
          <p:cNvPr id="86" name="Text 74"/>
          <p:cNvSpPr/>
          <p:nvPr/>
        </p:nvSpPr>
        <p:spPr>
          <a:xfrm>
            <a:off x="8869680" y="41879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corrplot, plotrix</a:t>
            </a:r>
            <a:endParaRPr lang="en-US" sz="900" dirty="0"/>
          </a:p>
        </p:txBody>
      </p:sp>
      <p:sp>
        <p:nvSpPr>
          <p:cNvPr id="87" name="Text 75"/>
          <p:cNvSpPr/>
          <p:nvPr/>
        </p:nvSpPr>
        <p:spPr>
          <a:xfrm>
            <a:off x="8869680" y="4389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UI:  </a:t>
            </a:r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shinycssloaders</a:t>
            </a:r>
            <a:endParaRPr lang="en-US" sz="900" dirty="0"/>
          </a:p>
        </p:txBody>
      </p:sp>
      <p:sp>
        <p:nvSpPr>
          <p:cNvPr id="88" name="Text 76"/>
          <p:cNvSpPr/>
          <p:nvPr/>
        </p:nvSpPr>
        <p:spPr>
          <a:xfrm>
            <a:off x="8686800" y="4937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89" name="Shape 77"/>
          <p:cNvSpPr/>
          <p:nvPr/>
        </p:nvSpPr>
        <p:spPr>
          <a:xfrm>
            <a:off x="8686800" y="5230368"/>
            <a:ext cx="731520" cy="2743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90" name="Shape 78"/>
          <p:cNvSpPr/>
          <p:nvPr/>
        </p:nvSpPr>
        <p:spPr>
          <a:xfrm>
            <a:off x="8686800" y="5394960"/>
            <a:ext cx="310896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5000"/>
              </a:srgbClr>
            </a:outerShdw>
          </a:effectLst>
        </p:spPr>
      </p:sp>
      <p:sp>
        <p:nvSpPr>
          <p:cNvPr id="91" name="Text 79"/>
          <p:cNvSpPr/>
          <p:nvPr/>
        </p:nvSpPr>
        <p:spPr>
          <a:xfrm>
            <a:off x="8823960" y="5468112"/>
            <a:ext cx="28346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Data Analyzer provides a comprehensive, code-free environment for statistical analysis — from raw data to validated models.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integrating descriptive exploration, hypothesis testing, regression modeling, and assumption checking into a single interactive application, it makes rigorous statistics accessible to researchers, students, and analysts of all skill levels.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in R Shiny, the tool demonstrates that powerful statistical computing can be delivered through intuitive, modern web interfaces.</a:t>
            </a:r>
            <a:endParaRPr lang="en-US" sz="900" dirty="0"/>
          </a:p>
        </p:txBody>
      </p:sp>
      <p:sp>
        <p:nvSpPr>
          <p:cNvPr id="92" name="Shape 8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6366F1"/>
          </a:solidFill>
          <a:ln/>
          <a:effectLst>
            <a:outerShdw sx="100000" sy="100000" kx="0" ky="0" algn="bl" rotWithShape="0" blurRad="50800" dist="25400" dir="16200000">
              <a:srgbClr val="000000">
                <a:alpha val="20000"/>
              </a:srgbClr>
            </a:outerShdw>
          </a:effectLst>
        </p:spPr>
      </p:sp>
      <p:sp>
        <p:nvSpPr>
          <p:cNvPr id="93" name="Text 81"/>
          <p:cNvSpPr/>
          <p:nvPr/>
        </p:nvSpPr>
        <p:spPr>
          <a:xfrm>
            <a:off x="457200" y="6537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Data Analyzer  —  Built with R Shiny  — 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Universal Data Analyzer — Expo Poster</dc:title>
  <dc:subject>PptxGenJS Presentation</dc:subject>
  <dc:creator>Universal Data Analyzer Team</dc:creator>
  <cp:lastModifiedBy>Universal Data Analyzer Team</cp:lastModifiedBy>
  <cp:revision>1</cp:revision>
  <dcterms:created xsi:type="dcterms:W3CDTF">2026-05-02T16:29:50Z</dcterms:created>
  <dcterms:modified xsi:type="dcterms:W3CDTF">2026-05-02T16:29:50Z</dcterms:modified>
</cp:coreProperties>
</file>
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67275" cy="42794238"/>
  <p:notesSz cx="42794238" cy="302672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45B7"/>
    <a:srgbClr val="D9DAF1"/>
    <a:srgbClr val="4F2470"/>
    <a:srgbClr val="E6E8EF"/>
    <a:srgbClr val="542578"/>
    <a:srgbClr val="EEF0F8"/>
    <a:srgbClr val="E9E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4610"/>
  </p:normalViewPr>
  <p:slideViewPr>
    <p:cSldViewPr snapToGrid="0" snapToObjects="1">
      <p:cViewPr>
        <p:scale>
          <a:sx n="34" d="100"/>
          <a:sy n="34" d="100"/>
        </p:scale>
        <p:origin x="190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1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6.png"/><Relationship Id="rId18" Type="http://schemas.microsoft.com/office/2007/relationships/hdphoto" Target="../media/hdphoto8.wdp"/><Relationship Id="rId26" Type="http://schemas.openxmlformats.org/officeDocument/2006/relationships/image" Target="../media/image15.png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microsoft.com/office/2007/relationships/hdphoto" Target="../media/hdphoto5.wdp"/><Relationship Id="rId17" Type="http://schemas.openxmlformats.org/officeDocument/2006/relationships/image" Target="../media/image8.png"/><Relationship Id="rId25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microsoft.com/office/2007/relationships/hdphoto" Target="../media/hdphoto7.wdp"/><Relationship Id="rId20" Type="http://schemas.microsoft.com/office/2007/relationships/hdphoto" Target="../media/hdphoto9.wdp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5.png"/><Relationship Id="rId24" Type="http://schemas.openxmlformats.org/officeDocument/2006/relationships/image" Target="../media/image13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2.png"/><Relationship Id="rId28" Type="http://schemas.openxmlformats.org/officeDocument/2006/relationships/image" Target="../media/image17.png"/><Relationship Id="rId10" Type="http://schemas.microsoft.com/office/2007/relationships/hdphoto" Target="../media/hdphoto4.wdp"/><Relationship Id="rId19" Type="http://schemas.openxmlformats.org/officeDocument/2006/relationships/image" Target="../media/image9.png"/><Relationship Id="rId4" Type="http://schemas.microsoft.com/office/2007/relationships/hdphoto" Target="../media/hdphoto1.wdp"/><Relationship Id="rId9" Type="http://schemas.openxmlformats.org/officeDocument/2006/relationships/image" Target="../media/image4.png"/><Relationship Id="rId14" Type="http://schemas.microsoft.com/office/2007/relationships/hdphoto" Target="../media/hdphoto6.wdp"/><Relationship Id="rId22" Type="http://schemas.openxmlformats.org/officeDocument/2006/relationships/image" Target="../media/image11.png"/><Relationship Id="rId27" Type="http://schemas.openxmlformats.org/officeDocument/2006/relationships/image" Target="../media/image16.png"/><Relationship Id="rId30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66640" cy="3657600"/>
          </a:xfrm>
          <a:prstGeom prst="rect">
            <a:avLst/>
          </a:prstGeom>
          <a:solidFill>
            <a:srgbClr val="4F247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3657600"/>
            <a:ext cx="30266640" cy="91440"/>
          </a:xfrm>
          <a:prstGeom prst="rect">
            <a:avLst/>
          </a:prstGeom>
          <a:solidFill>
            <a:srgbClr val="8945B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1097280" y="633134"/>
            <a:ext cx="2807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 Data Analyzer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1097280" y="2197992"/>
            <a:ext cx="2807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i="1" dirty="0">
                <a:solidFill>
                  <a:srgbClr val="D9DA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Interactive Web Application for Statistical Data Analysis</a:t>
            </a:r>
            <a:endParaRPr lang="en-US" sz="3800" dirty="0">
              <a:solidFill>
                <a:srgbClr val="D9DAF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097280" y="2801672"/>
            <a:ext cx="2807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kern="0" spc="400" dirty="0">
                <a:solidFill>
                  <a:srgbClr val="C9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by: </a:t>
            </a:r>
            <a:r>
              <a:rPr lang="en-US" sz="3200" kern="0" spc="200" dirty="0">
                <a:solidFill>
                  <a:srgbClr val="C9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Zainab Alturaiki, Farah Almutairi, Leen Ghazi, Reema, </a:t>
            </a:r>
            <a:r>
              <a:rPr lang="en-US" sz="3200" kern="0" spc="200" dirty="0" err="1">
                <a:solidFill>
                  <a:srgbClr val="C9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Najla</a:t>
            </a:r>
            <a:r>
              <a:rPr lang="en-US" sz="3200" kern="0" spc="200" dirty="0">
                <a:solidFill>
                  <a:srgbClr val="C9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kern="0" spc="200" dirty="0" err="1">
                <a:solidFill>
                  <a:srgbClr val="C9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Aljaloud</a:t>
            </a:r>
            <a:r>
              <a:rPr lang="en-US" sz="3200" kern="0" spc="200" dirty="0">
                <a:solidFill>
                  <a:srgbClr val="C9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Reema Al </a:t>
            </a:r>
            <a:r>
              <a:rPr lang="en-US" sz="3200" kern="0" spc="200" dirty="0" err="1">
                <a:solidFill>
                  <a:srgbClr val="C9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Hweamel</a:t>
            </a:r>
            <a:r>
              <a:rPr lang="en-US" sz="3200" kern="0" spc="200" dirty="0">
                <a:solidFill>
                  <a:srgbClr val="C9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452628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kern="0" spc="800" dirty="0">
                <a:solidFill>
                  <a:srgbClr val="8945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4000" dirty="0">
              <a:solidFill>
                <a:srgbClr val="8945B7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1097280" y="5367528"/>
            <a:ext cx="5400000" cy="73152"/>
          </a:xfrm>
          <a:prstGeom prst="rect">
            <a:avLst/>
          </a:prstGeom>
          <a:solidFill>
            <a:srgbClr val="8945B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1097280" y="5715000"/>
            <a:ext cx="8229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4500"/>
              </a:lnSpc>
              <a:spcAft>
                <a:spcPts val="1000"/>
              </a:spcAft>
              <a:buNone/>
            </a:pPr>
            <a:r>
              <a:rPr lang="en-US" sz="3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often requires switching between multiple software tools and writing complex code, creating barriers for non-technical users.</a:t>
            </a:r>
            <a:r>
              <a:rPr lang="en-US" sz="3200" dirty="0"/>
              <a:t> T</a:t>
            </a:r>
            <a:r>
              <a:rPr lang="en-US" sz="3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a growing need for an integrated, user-friendly platform that guides users through the complete data analysis workflow, from data upload to model validation, without requiring programming knowledge.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74420" y="11291606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kern="0" spc="800" dirty="0">
                <a:solidFill>
                  <a:srgbClr val="8945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SOLUTION</a:t>
            </a:r>
            <a:endParaRPr lang="en-US" sz="4000" dirty="0">
              <a:solidFill>
                <a:srgbClr val="8945B7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74420" y="12132854"/>
            <a:ext cx="5400000" cy="73152"/>
          </a:xfrm>
          <a:prstGeom prst="rect">
            <a:avLst/>
          </a:prstGeom>
          <a:solidFill>
            <a:srgbClr val="8945B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1074420" y="12480326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3200" i="1" dirty="0">
                <a:solidFill>
                  <a:srgbClr val="36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Data Analyzer addresses this gap by providing a single, cohesive environment for exploratory, inferential, and regression-based analyses.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1074420" y="14885320"/>
            <a:ext cx="274320" cy="274320"/>
          </a:xfrm>
          <a:prstGeom prst="rect">
            <a:avLst/>
          </a:prstGeom>
          <a:solidFill>
            <a:srgbClr val="8945B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4" name="Text 12"/>
          <p:cNvSpPr/>
          <p:nvPr/>
        </p:nvSpPr>
        <p:spPr>
          <a:xfrm>
            <a:off x="1577340" y="14759590"/>
            <a:ext cx="8183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Shiny Framework</a:t>
            </a:r>
            <a:endParaRPr lang="en-US" sz="3200" dirty="0"/>
          </a:p>
          <a:p>
            <a:pPr marL="0" indent="0">
              <a:buNone/>
            </a:pPr>
            <a:r>
              <a:rPr lang="en-US" sz="2400" dirty="0">
                <a:solidFill>
                  <a:srgbClr val="36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app requiring no coding from the end user.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074420" y="16025958"/>
            <a:ext cx="274320" cy="274320"/>
          </a:xfrm>
          <a:prstGeom prst="rect">
            <a:avLst/>
          </a:prstGeom>
          <a:solidFill>
            <a:srgbClr val="8945B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6" name="Text 14"/>
          <p:cNvSpPr/>
          <p:nvPr/>
        </p:nvSpPr>
        <p:spPr>
          <a:xfrm>
            <a:off x="1577340" y="15888798"/>
            <a:ext cx="8183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</a:t>
            </a:r>
            <a:endParaRPr lang="en-US" sz="3200" dirty="0"/>
          </a:p>
          <a:p>
            <a:pPr marL="0" indent="0">
              <a:buNone/>
            </a:pPr>
            <a:r>
              <a:rPr lang="en-US" sz="2400" dirty="0">
                <a:solidFill>
                  <a:srgbClr val="36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upload → exploration → inference → modeling → validation.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074420" y="17265282"/>
            <a:ext cx="274320" cy="274320"/>
          </a:xfrm>
          <a:prstGeom prst="rect">
            <a:avLst/>
          </a:prstGeom>
          <a:solidFill>
            <a:srgbClr val="8945B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1577340" y="17082402"/>
            <a:ext cx="8183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Support</a:t>
            </a:r>
            <a:endParaRPr lang="en-US" sz="3200" dirty="0"/>
          </a:p>
          <a:p>
            <a:pPr marL="0" indent="0">
              <a:buNone/>
            </a:pPr>
            <a:r>
              <a:rPr lang="en-US" sz="2400" dirty="0">
                <a:solidFill>
                  <a:srgbClr val="36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and Excel uploads with automatic type detection.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074420" y="18408785"/>
            <a:ext cx="274320" cy="274320"/>
          </a:xfrm>
          <a:prstGeom prst="rect">
            <a:avLst/>
          </a:prstGeom>
          <a:solidFill>
            <a:srgbClr val="8945B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0" name="Text 18"/>
          <p:cNvSpPr/>
          <p:nvPr/>
        </p:nvSpPr>
        <p:spPr>
          <a:xfrm>
            <a:off x="1577340" y="18247241"/>
            <a:ext cx="8183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UI</a:t>
            </a:r>
            <a:endParaRPr lang="en-US" sz="3200" dirty="0"/>
          </a:p>
          <a:p>
            <a:pPr marL="0" indent="0">
              <a:buNone/>
            </a:pPr>
            <a:r>
              <a:rPr lang="en-US" sz="2400" dirty="0">
                <a:solidFill>
                  <a:srgbClr val="36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guided navigation with sidebar and home-first workflow.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74420" y="20235604"/>
            <a:ext cx="90856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kern="0" spc="800" dirty="0">
                <a:solidFill>
                  <a:srgbClr val="8945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TECHNOLOGIES</a:t>
            </a:r>
            <a:endParaRPr lang="en-US" sz="4000" dirty="0">
              <a:solidFill>
                <a:srgbClr val="8945B7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74420" y="21076852"/>
            <a:ext cx="5400000" cy="73152"/>
          </a:xfrm>
          <a:prstGeom prst="rect">
            <a:avLst/>
          </a:prstGeom>
          <a:solidFill>
            <a:srgbClr val="8945B7"/>
          </a:solidFill>
          <a:ln/>
        </p:spPr>
        <p:txBody>
          <a:bodyPr/>
          <a:lstStyle/>
          <a:p>
            <a:pPr marL="0" algn="l" defTabSz="914400" rtl="0" eaLnBrk="1" latinLnBrk="0" hangingPunct="1"/>
            <a:endParaRPr lang="en-SA"/>
          </a:p>
        </p:txBody>
      </p:sp>
      <p:sp>
        <p:nvSpPr>
          <p:cNvPr id="23" name="Shape 21"/>
          <p:cNvSpPr/>
          <p:nvPr/>
        </p:nvSpPr>
        <p:spPr>
          <a:xfrm>
            <a:off x="1074420" y="21424324"/>
            <a:ext cx="8686800" cy="3858768"/>
          </a:xfrm>
          <a:prstGeom prst="rect">
            <a:avLst/>
          </a:prstGeom>
          <a:solidFill>
            <a:srgbClr val="D9DAF1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SA"/>
          </a:p>
        </p:txBody>
      </p:sp>
      <p:sp>
        <p:nvSpPr>
          <p:cNvPr id="24" name="Text 22"/>
          <p:cNvSpPr/>
          <p:nvPr/>
        </p:nvSpPr>
        <p:spPr>
          <a:xfrm>
            <a:off x="1531620" y="2165292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Core:  </a:t>
            </a:r>
            <a:r>
              <a:rPr lang="en-US" sz="3200" dirty="0">
                <a:solidFill>
                  <a:srgbClr val="36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R, Shiny, shinyjs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1531620" y="222198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I/O:  </a:t>
            </a:r>
            <a:r>
              <a:rPr lang="en-US" sz="3200" dirty="0">
                <a:solidFill>
                  <a:srgbClr val="36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readr, readxl, DT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531620" y="227867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Statistics:  </a:t>
            </a:r>
            <a:r>
              <a:rPr lang="en-US" sz="3200" dirty="0">
                <a:solidFill>
                  <a:srgbClr val="36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moments, </a:t>
            </a:r>
            <a:r>
              <a:rPr lang="en-US" sz="3200" dirty="0" err="1">
                <a:solidFill>
                  <a:srgbClr val="36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lmtest</a:t>
            </a:r>
            <a:r>
              <a:rPr lang="en-US" sz="3200" dirty="0">
                <a:solidFill>
                  <a:srgbClr val="36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MASS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1531620" y="233537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Testing:  </a:t>
            </a:r>
            <a:r>
              <a:rPr lang="en-US" sz="3200" dirty="0">
                <a:solidFill>
                  <a:srgbClr val="36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nortest, randtests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1531620" y="2392063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Visualization:  </a:t>
            </a:r>
            <a:r>
              <a:rPr lang="en-US" sz="3200" dirty="0">
                <a:solidFill>
                  <a:srgbClr val="36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corrplot, plotrix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531620" y="2448756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UI:  </a:t>
            </a:r>
            <a:r>
              <a:rPr lang="en-US" sz="3200" dirty="0">
                <a:solidFill>
                  <a:srgbClr val="36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shinycssloaders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1097280" y="26307288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kern="0" spc="800" dirty="0">
                <a:solidFill>
                  <a:srgbClr val="8945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4000" dirty="0">
              <a:solidFill>
                <a:srgbClr val="8945B7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097280" y="27148536"/>
            <a:ext cx="5400000" cy="73152"/>
          </a:xfrm>
          <a:prstGeom prst="rect">
            <a:avLst/>
          </a:prstGeom>
          <a:solidFill>
            <a:srgbClr val="8945B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2" name="Shape 30"/>
          <p:cNvSpPr/>
          <p:nvPr/>
        </p:nvSpPr>
        <p:spPr>
          <a:xfrm>
            <a:off x="1097280" y="27541728"/>
            <a:ext cx="502920" cy="502920"/>
          </a:xfrm>
          <a:prstGeom prst="ellipse">
            <a:avLst/>
          </a:prstGeom>
          <a:solidFill>
            <a:srgbClr val="8945B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3" name="Text 31"/>
          <p:cNvSpPr/>
          <p:nvPr/>
        </p:nvSpPr>
        <p:spPr>
          <a:xfrm>
            <a:off x="1097280" y="2750032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1874520" y="27496008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integrated R Shiny application that streamlines the entire data analysis workflow within a single interface.</a:t>
            </a:r>
            <a:endParaRPr lang="en-US" sz="3200" dirty="0"/>
          </a:p>
        </p:txBody>
      </p:sp>
      <p:sp>
        <p:nvSpPr>
          <p:cNvPr id="35" name="Shape 33"/>
          <p:cNvSpPr/>
          <p:nvPr/>
        </p:nvSpPr>
        <p:spPr>
          <a:xfrm>
            <a:off x="1097280" y="29225626"/>
            <a:ext cx="502920" cy="502920"/>
          </a:xfrm>
          <a:prstGeom prst="ellipse">
            <a:avLst/>
          </a:prstGeom>
          <a:solidFill>
            <a:srgbClr val="8945B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6" name="Text 34"/>
          <p:cNvSpPr/>
          <p:nvPr/>
        </p:nvSpPr>
        <p:spPr>
          <a:xfrm>
            <a:off x="1097280" y="2918447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1874520" y="29179906"/>
            <a:ext cx="7909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the need for programming knowledge by exposing statistical methods through a guided graphical interface.</a:t>
            </a:r>
            <a:endParaRPr lang="en-US" sz="3200" dirty="0"/>
          </a:p>
        </p:txBody>
      </p:sp>
      <p:sp>
        <p:nvSpPr>
          <p:cNvPr id="38" name="Shape 36"/>
          <p:cNvSpPr/>
          <p:nvPr/>
        </p:nvSpPr>
        <p:spPr>
          <a:xfrm>
            <a:off x="1097280" y="31037883"/>
            <a:ext cx="502920" cy="502920"/>
          </a:xfrm>
          <a:prstGeom prst="ellipse">
            <a:avLst/>
          </a:prstGeom>
          <a:solidFill>
            <a:srgbClr val="8945B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9" name="Text 37"/>
          <p:cNvSpPr/>
          <p:nvPr/>
        </p:nvSpPr>
        <p:spPr>
          <a:xfrm>
            <a:off x="1120140" y="30967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1874520" y="30992163"/>
            <a:ext cx="7909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the full regression-modeling pipeline, from descriptive exploration to inference, model selection, and assumption checking.</a:t>
            </a:r>
            <a:endParaRPr lang="en-US" sz="3200" dirty="0"/>
          </a:p>
        </p:txBody>
      </p:sp>
      <p:sp>
        <p:nvSpPr>
          <p:cNvPr id="41" name="Shape 39"/>
          <p:cNvSpPr/>
          <p:nvPr/>
        </p:nvSpPr>
        <p:spPr>
          <a:xfrm>
            <a:off x="1097280" y="32793683"/>
            <a:ext cx="502920" cy="502920"/>
          </a:xfrm>
          <a:prstGeom prst="ellipse">
            <a:avLst/>
          </a:prstGeom>
          <a:solidFill>
            <a:srgbClr val="8945B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2" name="Text 40"/>
          <p:cNvSpPr/>
          <p:nvPr/>
        </p:nvSpPr>
        <p:spPr>
          <a:xfrm>
            <a:off x="1099655" y="32723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1874520" y="32747963"/>
            <a:ext cx="7909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rigorous diagnostic tools (VIF, residual analysis, Box-Cox) and remediation methods (Ridge, Lasso, WLS) within the same platform.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1097280" y="348278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kern="0" spc="800" dirty="0">
                <a:solidFill>
                  <a:srgbClr val="8945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4000" dirty="0">
              <a:solidFill>
                <a:srgbClr val="8945B7"/>
              </a:solidFill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097280" y="35669068"/>
            <a:ext cx="5400000" cy="73152"/>
          </a:xfrm>
          <a:prstGeom prst="rect">
            <a:avLst/>
          </a:prstGeom>
          <a:solidFill>
            <a:srgbClr val="8945B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6" name="Text 44"/>
          <p:cNvSpPr/>
          <p:nvPr/>
        </p:nvSpPr>
        <p:spPr>
          <a:xfrm>
            <a:off x="1074420" y="36064622"/>
            <a:ext cx="8686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4500"/>
              </a:lnSpc>
              <a:spcAft>
                <a:spcPts val="1200"/>
              </a:spcAft>
              <a:buNone/>
            </a:pPr>
            <a:r>
              <a:rPr lang="en-US" sz="3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Data Analyzer provides a comprehensive, code-free environment for statistical analysis, from raw data to validated models,  in a single, integrated platform.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descriptive exploration, hypothesis testing, regression modeling, and assumption checking into one interactive application, it makes rigorous statistical methods accessible to researchers without programming expertise.</a:t>
            </a:r>
            <a:endParaRPr lang="en-US" sz="3200" dirty="0"/>
          </a:p>
        </p:txBody>
      </p:sp>
      <p:sp>
        <p:nvSpPr>
          <p:cNvPr id="47" name="Text 45"/>
          <p:cNvSpPr/>
          <p:nvPr/>
        </p:nvSpPr>
        <p:spPr>
          <a:xfrm>
            <a:off x="1097280" y="42008473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kern="0" spc="400" dirty="0">
                <a:solidFill>
                  <a:srgbClr val="365F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 Data Analyzer  ·  Built with R Shiny  ·  2026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0424160" y="4526280"/>
            <a:ext cx="1874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kern="0" spc="800" dirty="0">
                <a:solidFill>
                  <a:srgbClr val="8945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4000" dirty="0">
              <a:solidFill>
                <a:srgbClr val="8945B7"/>
              </a:solidFill>
            </a:endParaRPr>
          </a:p>
        </p:txBody>
      </p:sp>
      <p:sp>
        <p:nvSpPr>
          <p:cNvPr id="49" name="Shape 47"/>
          <p:cNvSpPr/>
          <p:nvPr/>
        </p:nvSpPr>
        <p:spPr>
          <a:xfrm>
            <a:off x="10424160" y="5367528"/>
            <a:ext cx="5400000" cy="73152"/>
          </a:xfrm>
          <a:prstGeom prst="rect">
            <a:avLst/>
          </a:prstGeom>
          <a:solidFill>
            <a:srgbClr val="8945B7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50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8945B7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24160" y="5806440"/>
            <a:ext cx="868680" cy="868680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11567160" y="5715000"/>
            <a:ext cx="4861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Upload &amp; Preview</a:t>
            </a:r>
            <a:endParaRPr lang="en-US" sz="3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solidFill>
                  <a:srgbClr val="36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CSV/Excel files; review structure and quality.</a:t>
            </a:r>
            <a:endParaRPr lang="en-US" sz="2400" dirty="0"/>
          </a:p>
        </p:txBody>
      </p:sp>
      <p:pic>
        <p:nvPicPr>
          <p:cNvPr id="52" name="Image 1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8945B7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24160" y="7909560"/>
            <a:ext cx="868680" cy="868680"/>
          </a:xfrm>
          <a:prstGeom prst="rect">
            <a:avLst/>
          </a:prstGeom>
        </p:spPr>
      </p:pic>
      <p:sp>
        <p:nvSpPr>
          <p:cNvPr id="53" name="Text 49"/>
          <p:cNvSpPr/>
          <p:nvPr/>
        </p:nvSpPr>
        <p:spPr>
          <a:xfrm>
            <a:off x="11567160" y="7818120"/>
            <a:ext cx="4861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Descriptive Analysis</a:t>
            </a:r>
            <a:endParaRPr lang="en-US" sz="3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solidFill>
                  <a:srgbClr val="36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two, and multi-variable exploration with plots.</a:t>
            </a:r>
            <a:endParaRPr lang="en-US" sz="2400" dirty="0"/>
          </a:p>
        </p:txBody>
      </p:sp>
      <p:pic>
        <p:nvPicPr>
          <p:cNvPr id="54" name="Image 2" descr="preencoded.png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8945B7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24160" y="10012680"/>
            <a:ext cx="868680" cy="868680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11567160" y="9921240"/>
            <a:ext cx="4861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Inferential Statistics</a:t>
            </a:r>
            <a:endParaRPr lang="en-US" sz="3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solidFill>
                  <a:srgbClr val="36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Normality tests, t-tests, Wilcoxon, group comparisons.</a:t>
            </a:r>
            <a:endParaRPr lang="en-US" sz="2400" dirty="0"/>
          </a:p>
        </p:txBody>
      </p:sp>
      <p:pic>
        <p:nvPicPr>
          <p:cNvPr id="56" name="Image 3" descr="preencoded.png"/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8945B7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794480" y="5806440"/>
            <a:ext cx="868680" cy="868680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17937480" y="5715000"/>
            <a:ext cx="4861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Modeling</a:t>
            </a:r>
            <a:endParaRPr lang="en-US" sz="3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solidFill>
                  <a:srgbClr val="36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multiple linear regression with diagnostics.</a:t>
            </a:r>
            <a:endParaRPr lang="en-US" sz="2400" dirty="0"/>
          </a:p>
        </p:txBody>
      </p:sp>
      <p:pic>
        <p:nvPicPr>
          <p:cNvPr id="58" name="Image 4" descr="preencoded.png"/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8945B7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794480" y="7909560"/>
            <a:ext cx="868680" cy="868680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17937480" y="7818120"/>
            <a:ext cx="4861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Indicator Variables</a:t>
            </a:r>
            <a:endParaRPr lang="en-US" sz="3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solidFill>
                  <a:srgbClr val="36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predictors as dummy variables in models.</a:t>
            </a:r>
            <a:endParaRPr lang="en-US" sz="2400" dirty="0"/>
          </a:p>
        </p:txBody>
      </p:sp>
      <p:pic>
        <p:nvPicPr>
          <p:cNvPr id="60" name="Image 5" descr="preencoded.png"/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8945B7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794480" y="10012680"/>
            <a:ext cx="868680" cy="868680"/>
          </a:xfrm>
          <a:prstGeom prst="rect">
            <a:avLst/>
          </a:prstGeom>
        </p:spPr>
      </p:pic>
      <p:sp>
        <p:nvSpPr>
          <p:cNvPr id="61" name="Text 53"/>
          <p:cNvSpPr/>
          <p:nvPr/>
        </p:nvSpPr>
        <p:spPr>
          <a:xfrm>
            <a:off x="17937480" y="9921240"/>
            <a:ext cx="4861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Building</a:t>
            </a:r>
            <a:endParaRPr lang="en-US" sz="3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solidFill>
                  <a:srgbClr val="36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subset, forward, backward, stepwise, via MSE, Adj. R², Cp, AIC, BIC.</a:t>
            </a:r>
            <a:endParaRPr lang="en-US" sz="2400" dirty="0"/>
          </a:p>
        </p:txBody>
      </p:sp>
      <p:pic>
        <p:nvPicPr>
          <p:cNvPr id="62" name="Image 6" descr="preencoded.png"/>
          <p:cNvPicPr>
            <a:picLocks noChangeAspect="1"/>
          </p:cNvPicPr>
          <p:nvPr/>
        </p:nvPicPr>
        <p:blipFill>
          <a:blip r:embed="rId15">
            <a:duotone>
              <a:prstClr val="black"/>
              <a:srgbClr val="8945B7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164800" y="5806440"/>
            <a:ext cx="868680" cy="868680"/>
          </a:xfrm>
          <a:prstGeom prst="rect">
            <a:avLst/>
          </a:prstGeom>
        </p:spPr>
      </p:pic>
      <p:sp>
        <p:nvSpPr>
          <p:cNvPr id="63" name="Text 54"/>
          <p:cNvSpPr/>
          <p:nvPr/>
        </p:nvSpPr>
        <p:spPr>
          <a:xfrm>
            <a:off x="24307800" y="5715000"/>
            <a:ext cx="4861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Multi-collinearity</a:t>
            </a:r>
            <a:endParaRPr lang="en-US" sz="3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solidFill>
                  <a:srgbClr val="36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detection with Ridge/Lasso regression cross-validated against OLS.</a:t>
            </a:r>
            <a:endParaRPr lang="en-US" sz="2400" dirty="0"/>
          </a:p>
        </p:txBody>
      </p:sp>
      <p:pic>
        <p:nvPicPr>
          <p:cNvPr id="64" name="Image 7" descr="preencoded.png"/>
          <p:cNvPicPr>
            <a:picLocks noChangeAspect="1"/>
          </p:cNvPicPr>
          <p:nvPr/>
        </p:nvPicPr>
        <p:blipFill>
          <a:blip r:embed="rId17">
            <a:duotone>
              <a:prstClr val="black"/>
              <a:srgbClr val="8945B7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164800" y="7909560"/>
            <a:ext cx="868680" cy="868680"/>
          </a:xfrm>
          <a:prstGeom prst="rect">
            <a:avLst/>
          </a:prstGeom>
        </p:spPr>
      </p:pic>
      <p:sp>
        <p:nvSpPr>
          <p:cNvPr id="65" name="Text 55"/>
          <p:cNvSpPr/>
          <p:nvPr/>
        </p:nvSpPr>
        <p:spPr>
          <a:xfrm>
            <a:off x="24307800" y="7818120"/>
            <a:ext cx="4861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Adequacy</a:t>
            </a:r>
            <a:endParaRPr lang="en-US" sz="3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solidFill>
                  <a:srgbClr val="36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normality, homoscedasticity, independence.</a:t>
            </a:r>
            <a:endParaRPr lang="en-US" sz="2400" dirty="0"/>
          </a:p>
        </p:txBody>
      </p:sp>
      <p:pic>
        <p:nvPicPr>
          <p:cNvPr id="66" name="Image 8" descr="preencoded.png"/>
          <p:cNvPicPr>
            <a:picLocks noChangeAspect="1"/>
          </p:cNvPicPr>
          <p:nvPr/>
        </p:nvPicPr>
        <p:blipFill>
          <a:blip r:embed="rId19">
            <a:duotone>
              <a:prstClr val="black"/>
              <a:srgbClr val="8945B7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164800" y="10012680"/>
            <a:ext cx="868680" cy="868680"/>
          </a:xfrm>
          <a:prstGeom prst="rect">
            <a:avLst/>
          </a:prstGeom>
        </p:spPr>
      </p:pic>
      <p:sp>
        <p:nvSpPr>
          <p:cNvPr id="67" name="Text 56"/>
          <p:cNvSpPr/>
          <p:nvPr/>
        </p:nvSpPr>
        <p:spPr>
          <a:xfrm>
            <a:off x="24307800" y="9921240"/>
            <a:ext cx="4861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Corrections</a:t>
            </a:r>
            <a:endParaRPr lang="en-US" sz="3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solidFill>
                  <a:srgbClr val="36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Box-Cox, Box-Tidwell, Weighted Least Squares.</a:t>
            </a:r>
            <a:endParaRPr lang="en-US" sz="2400" dirty="0"/>
          </a:p>
        </p:txBody>
      </p:sp>
      <p:sp>
        <p:nvSpPr>
          <p:cNvPr id="68" name="Text 57"/>
          <p:cNvSpPr/>
          <p:nvPr/>
        </p:nvSpPr>
        <p:spPr>
          <a:xfrm>
            <a:off x="10424160" y="12139015"/>
            <a:ext cx="1874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kern="0" spc="800" dirty="0">
                <a:solidFill>
                  <a:srgbClr val="8945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</a:t>
            </a:r>
            <a:endParaRPr lang="en-US" sz="4000" dirty="0">
              <a:solidFill>
                <a:srgbClr val="8945B7"/>
              </a:solidFill>
            </a:endParaRPr>
          </a:p>
        </p:txBody>
      </p:sp>
      <p:sp>
        <p:nvSpPr>
          <p:cNvPr id="69" name="Shape 58"/>
          <p:cNvSpPr/>
          <p:nvPr/>
        </p:nvSpPr>
        <p:spPr>
          <a:xfrm>
            <a:off x="10424160" y="12980263"/>
            <a:ext cx="5400000" cy="73152"/>
          </a:xfrm>
          <a:prstGeom prst="rect">
            <a:avLst/>
          </a:prstGeom>
          <a:solidFill>
            <a:srgbClr val="8945B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0" name="Shape 59"/>
          <p:cNvSpPr/>
          <p:nvPr/>
        </p:nvSpPr>
        <p:spPr>
          <a:xfrm>
            <a:off x="12767310" y="13967815"/>
            <a:ext cx="14058900" cy="0"/>
          </a:xfrm>
          <a:prstGeom prst="line">
            <a:avLst/>
          </a:prstGeom>
          <a:noFill/>
          <a:ln w="19050">
            <a:solidFill>
              <a:srgbClr val="D9D2C0"/>
            </a:solidFill>
            <a:prstDash val="dash"/>
          </a:ln>
        </p:spPr>
        <p:txBody>
          <a:bodyPr/>
          <a:lstStyle/>
          <a:p>
            <a:endParaRPr lang="en-SA"/>
          </a:p>
        </p:txBody>
      </p:sp>
      <p:sp>
        <p:nvSpPr>
          <p:cNvPr id="71" name="Shape 60"/>
          <p:cNvSpPr/>
          <p:nvPr/>
        </p:nvSpPr>
        <p:spPr>
          <a:xfrm>
            <a:off x="12127230" y="13327735"/>
            <a:ext cx="1280160" cy="1280160"/>
          </a:xfrm>
          <a:prstGeom prst="ellipse">
            <a:avLst/>
          </a:prstGeom>
          <a:solidFill>
            <a:srgbClr val="8945B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2" name="Text 61"/>
          <p:cNvSpPr/>
          <p:nvPr/>
        </p:nvSpPr>
        <p:spPr>
          <a:xfrm>
            <a:off x="12127230" y="13327735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73" name="Text 62"/>
          <p:cNvSpPr/>
          <p:nvPr/>
        </p:nvSpPr>
        <p:spPr>
          <a:xfrm>
            <a:off x="10424160" y="14790775"/>
            <a:ext cx="4686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</a:t>
            </a:r>
            <a:endParaRPr lang="en-US" sz="3200" dirty="0"/>
          </a:p>
        </p:txBody>
      </p:sp>
      <p:sp>
        <p:nvSpPr>
          <p:cNvPr id="74" name="Text 63"/>
          <p:cNvSpPr/>
          <p:nvPr/>
        </p:nvSpPr>
        <p:spPr>
          <a:xfrm>
            <a:off x="10424160" y="15321127"/>
            <a:ext cx="4686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36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datasets</a:t>
            </a:r>
            <a:endParaRPr lang="en-US" sz="2400" dirty="0"/>
          </a:p>
        </p:txBody>
      </p:sp>
      <p:sp>
        <p:nvSpPr>
          <p:cNvPr id="75" name="Shape 64"/>
          <p:cNvSpPr/>
          <p:nvPr/>
        </p:nvSpPr>
        <p:spPr>
          <a:xfrm>
            <a:off x="16813530" y="13327735"/>
            <a:ext cx="1280160" cy="1280160"/>
          </a:xfrm>
          <a:prstGeom prst="ellipse">
            <a:avLst/>
          </a:prstGeom>
          <a:solidFill>
            <a:srgbClr val="8945B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6" name="Text 65"/>
          <p:cNvSpPr/>
          <p:nvPr/>
        </p:nvSpPr>
        <p:spPr>
          <a:xfrm>
            <a:off x="16813530" y="13327735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 dirty="0"/>
          </a:p>
        </p:txBody>
      </p:sp>
      <p:sp>
        <p:nvSpPr>
          <p:cNvPr id="77" name="Text 66"/>
          <p:cNvSpPr/>
          <p:nvPr/>
        </p:nvSpPr>
        <p:spPr>
          <a:xfrm>
            <a:off x="15110460" y="14790775"/>
            <a:ext cx="4686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3200" dirty="0"/>
          </a:p>
        </p:txBody>
      </p:sp>
      <p:sp>
        <p:nvSpPr>
          <p:cNvPr id="78" name="Text 67"/>
          <p:cNvSpPr/>
          <p:nvPr/>
        </p:nvSpPr>
        <p:spPr>
          <a:xfrm>
            <a:off x="15110460" y="15321127"/>
            <a:ext cx="4686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36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&amp; explore</a:t>
            </a:r>
            <a:endParaRPr lang="en-US" sz="2400" dirty="0"/>
          </a:p>
        </p:txBody>
      </p:sp>
      <p:sp>
        <p:nvSpPr>
          <p:cNvPr id="79" name="Shape 68"/>
          <p:cNvSpPr/>
          <p:nvPr/>
        </p:nvSpPr>
        <p:spPr>
          <a:xfrm>
            <a:off x="21499830" y="13327735"/>
            <a:ext cx="1280160" cy="1280160"/>
          </a:xfrm>
          <a:prstGeom prst="ellipse">
            <a:avLst/>
          </a:prstGeom>
          <a:solidFill>
            <a:srgbClr val="8945B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0" name="Text 69"/>
          <p:cNvSpPr/>
          <p:nvPr/>
        </p:nvSpPr>
        <p:spPr>
          <a:xfrm>
            <a:off x="21499830" y="13327735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81" name="Text 70"/>
          <p:cNvSpPr/>
          <p:nvPr/>
        </p:nvSpPr>
        <p:spPr>
          <a:xfrm>
            <a:off x="19796760" y="14790775"/>
            <a:ext cx="4686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</a:t>
            </a:r>
            <a:endParaRPr lang="en-US" sz="3200" dirty="0"/>
          </a:p>
        </p:txBody>
      </p:sp>
      <p:sp>
        <p:nvSpPr>
          <p:cNvPr id="82" name="Text 71"/>
          <p:cNvSpPr/>
          <p:nvPr/>
        </p:nvSpPr>
        <p:spPr>
          <a:xfrm>
            <a:off x="19796760" y="15321127"/>
            <a:ext cx="4686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36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data</a:t>
            </a:r>
            <a:endParaRPr lang="en-US" sz="2400" dirty="0"/>
          </a:p>
        </p:txBody>
      </p:sp>
      <p:sp>
        <p:nvSpPr>
          <p:cNvPr id="83" name="Shape 72"/>
          <p:cNvSpPr/>
          <p:nvPr/>
        </p:nvSpPr>
        <p:spPr>
          <a:xfrm>
            <a:off x="26186130" y="13327735"/>
            <a:ext cx="1280160" cy="1280160"/>
          </a:xfrm>
          <a:prstGeom prst="ellipse">
            <a:avLst/>
          </a:prstGeom>
          <a:solidFill>
            <a:srgbClr val="8945B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4" name="Text 73"/>
          <p:cNvSpPr/>
          <p:nvPr/>
        </p:nvSpPr>
        <p:spPr>
          <a:xfrm>
            <a:off x="26186130" y="13327735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800" dirty="0"/>
          </a:p>
        </p:txBody>
      </p:sp>
      <p:sp>
        <p:nvSpPr>
          <p:cNvPr id="85" name="Text 74"/>
          <p:cNvSpPr/>
          <p:nvPr/>
        </p:nvSpPr>
        <p:spPr>
          <a:xfrm>
            <a:off x="24483060" y="14790775"/>
            <a:ext cx="4686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</a:t>
            </a:r>
            <a:endParaRPr lang="en-US" sz="3200" dirty="0"/>
          </a:p>
        </p:txBody>
      </p:sp>
      <p:sp>
        <p:nvSpPr>
          <p:cNvPr id="86" name="Text 75"/>
          <p:cNvSpPr/>
          <p:nvPr/>
        </p:nvSpPr>
        <p:spPr>
          <a:xfrm>
            <a:off x="24483060" y="15321127"/>
            <a:ext cx="4686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36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model</a:t>
            </a:r>
            <a:endParaRPr lang="en-US" sz="2400" dirty="0"/>
          </a:p>
        </p:txBody>
      </p:sp>
      <p:sp>
        <p:nvSpPr>
          <p:cNvPr id="87" name="Text 76"/>
          <p:cNvSpPr/>
          <p:nvPr/>
        </p:nvSpPr>
        <p:spPr>
          <a:xfrm>
            <a:off x="10424160" y="16504920"/>
            <a:ext cx="1874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kern="0" spc="800" dirty="0">
                <a:solidFill>
                  <a:srgbClr val="8945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SCREENSHOTS</a:t>
            </a:r>
            <a:endParaRPr lang="en-US" sz="4000" dirty="0">
              <a:solidFill>
                <a:srgbClr val="8945B7"/>
              </a:solidFill>
            </a:endParaRPr>
          </a:p>
        </p:txBody>
      </p:sp>
      <p:sp>
        <p:nvSpPr>
          <p:cNvPr id="88" name="Shape 77"/>
          <p:cNvSpPr/>
          <p:nvPr/>
        </p:nvSpPr>
        <p:spPr>
          <a:xfrm>
            <a:off x="10424160" y="17346168"/>
            <a:ext cx="5400000" cy="73152"/>
          </a:xfrm>
          <a:prstGeom prst="rect">
            <a:avLst/>
          </a:prstGeom>
          <a:solidFill>
            <a:srgbClr val="8945B7"/>
          </a:solidFill>
          <a:ln/>
        </p:spPr>
        <p:txBody>
          <a:bodyPr/>
          <a:lstStyle/>
          <a:p>
            <a:pPr marL="0" algn="l" defTabSz="914400" rtl="0" eaLnBrk="1" latinLnBrk="0" hangingPunct="1"/>
            <a:endParaRPr lang="en-SA"/>
          </a:p>
        </p:txBody>
      </p:sp>
      <p:pic>
        <p:nvPicPr>
          <p:cNvPr id="1026" name="Picture 2" descr="R) Shiny Days">
            <a:extLst>
              <a:ext uri="{FF2B5EF4-FFF2-40B4-BE49-F238E27FC236}">
                <a16:creationId xmlns:a16="http://schemas.microsoft.com/office/drawing/2014/main" id="{3E5353C6-4D7A-F7C1-BD03-2A3C570C8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3962" y="21671364"/>
            <a:ext cx="2926080" cy="1646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 - Visual Studio Marketplace">
            <a:extLst>
              <a:ext uri="{FF2B5EF4-FFF2-40B4-BE49-F238E27FC236}">
                <a16:creationId xmlns:a16="http://schemas.microsoft.com/office/drawing/2014/main" id="{CB375CF8-9289-FF1F-59B0-96D87167F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644" y="23478963"/>
            <a:ext cx="1679094" cy="1469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" name="Picture 113" descr="A screenshot of a computer&#10;&#10;Description automatically generated">
            <a:extLst>
              <a:ext uri="{FF2B5EF4-FFF2-40B4-BE49-F238E27FC236}">
                <a16:creationId xmlns:a16="http://schemas.microsoft.com/office/drawing/2014/main" id="{D2A51091-9510-EA35-9B5B-FA12858A7B34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75965" y="15298230"/>
            <a:ext cx="10777843" cy="10777843"/>
          </a:xfrm>
          <a:prstGeom prst="rect">
            <a:avLst/>
          </a:prstGeom>
        </p:spPr>
      </p:pic>
      <p:pic>
        <p:nvPicPr>
          <p:cNvPr id="116" name="Picture 115" descr="A screenshot of a computer&#10;&#10;Description automatically generated">
            <a:extLst>
              <a:ext uri="{FF2B5EF4-FFF2-40B4-BE49-F238E27FC236}">
                <a16:creationId xmlns:a16="http://schemas.microsoft.com/office/drawing/2014/main" id="{F5F66CC6-4336-2A36-1292-BDE120F5868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651239" y="27438850"/>
            <a:ext cx="10777843" cy="10777843"/>
          </a:xfrm>
          <a:prstGeom prst="rect">
            <a:avLst/>
          </a:prstGeom>
        </p:spPr>
      </p:pic>
      <p:pic>
        <p:nvPicPr>
          <p:cNvPr id="118" name="Picture 117" descr="A screenshot of a computer&#10;&#10;Description automatically generated">
            <a:extLst>
              <a:ext uri="{FF2B5EF4-FFF2-40B4-BE49-F238E27FC236}">
                <a16:creationId xmlns:a16="http://schemas.microsoft.com/office/drawing/2014/main" id="{0B7AB107-C2FB-47F2-449F-6D093838F89E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9027491" y="15229146"/>
            <a:ext cx="10777843" cy="10777843"/>
          </a:xfrm>
          <a:prstGeom prst="rect">
            <a:avLst/>
          </a:prstGeom>
        </p:spPr>
      </p:pic>
      <p:pic>
        <p:nvPicPr>
          <p:cNvPr id="120" name="Picture 119" descr="A screenshot of a computer&#10;&#10;Description automatically generated">
            <a:extLst>
              <a:ext uri="{FF2B5EF4-FFF2-40B4-BE49-F238E27FC236}">
                <a16:creationId xmlns:a16="http://schemas.microsoft.com/office/drawing/2014/main" id="{E5353831-A061-430E-C1A7-7977F050AD4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628379" y="21324358"/>
            <a:ext cx="10777843" cy="10777843"/>
          </a:xfrm>
          <a:prstGeom prst="rect">
            <a:avLst/>
          </a:prstGeom>
        </p:spPr>
      </p:pic>
      <p:pic>
        <p:nvPicPr>
          <p:cNvPr id="122" name="Picture 121" descr="A screenshot of a computer&#10;&#10;Description automatically generated">
            <a:extLst>
              <a:ext uri="{FF2B5EF4-FFF2-40B4-BE49-F238E27FC236}">
                <a16:creationId xmlns:a16="http://schemas.microsoft.com/office/drawing/2014/main" id="{00D65880-9912-E496-3A73-4453F1FD328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9095337" y="21305183"/>
            <a:ext cx="10777843" cy="10777843"/>
          </a:xfrm>
          <a:prstGeom prst="rect">
            <a:avLst/>
          </a:prstGeom>
        </p:spPr>
      </p:pic>
      <p:pic>
        <p:nvPicPr>
          <p:cNvPr id="1027" name="Picture 1026" descr="A screenshot of a computer&#10;&#10;Description automatically generated">
            <a:extLst>
              <a:ext uri="{FF2B5EF4-FFF2-40B4-BE49-F238E27FC236}">
                <a16:creationId xmlns:a16="http://schemas.microsoft.com/office/drawing/2014/main" id="{509A4BC7-5089-2C81-F401-E385F704664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9184439" y="27328840"/>
            <a:ext cx="10777843" cy="10777843"/>
          </a:xfrm>
          <a:prstGeom prst="rect">
            <a:avLst/>
          </a:prstGeom>
        </p:spPr>
      </p:pic>
      <p:pic>
        <p:nvPicPr>
          <p:cNvPr id="1030" name="Picture 1029" descr="A screenshot of a computer&#10;&#10;Description automatically generated">
            <a:extLst>
              <a:ext uri="{FF2B5EF4-FFF2-40B4-BE49-F238E27FC236}">
                <a16:creationId xmlns:a16="http://schemas.microsoft.com/office/drawing/2014/main" id="{E9A23359-6D71-32BA-64DF-D4D662D8667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9224843" y="33404273"/>
            <a:ext cx="10777843" cy="10777843"/>
          </a:xfrm>
          <a:prstGeom prst="rect">
            <a:avLst/>
          </a:prstGeom>
        </p:spPr>
      </p:pic>
      <p:pic>
        <p:nvPicPr>
          <p:cNvPr id="1032" name="Picture 1031" descr="A screen shot of a computer&#10;&#10;Description automatically generated">
            <a:extLst>
              <a:ext uri="{FF2B5EF4-FFF2-40B4-BE49-F238E27FC236}">
                <a16:creationId xmlns:a16="http://schemas.microsoft.com/office/drawing/2014/main" id="{0A2F8F4A-021C-2BB9-96A2-ECB56472FD0B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756851" y="33513686"/>
            <a:ext cx="10777843" cy="107778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491</Words>
  <Application>Microsoft Macintosh PowerPoint</Application>
  <PresentationFormat>Custom</PresentationFormat>
  <Paragraphs>68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Universal Data Analyzer Poster</dc:title>
  <dc:subject>PptxGenJS Presentation</dc:subject>
  <dc:creator>PptxGenJS</dc:creator>
  <cp:lastModifiedBy>ZAINAB JAFFAR AL TURAIKI</cp:lastModifiedBy>
  <cp:revision>2</cp:revision>
  <dcterms:created xsi:type="dcterms:W3CDTF">2026-05-02T19:18:40Z</dcterms:created>
  <dcterms:modified xsi:type="dcterms:W3CDTF">2026-05-02T20:06:57Z</dcterms:modified>
</cp:coreProperties>
</file>